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db78a24e6497c" /><Relationship Type="http://schemas.openxmlformats.org/officeDocument/2006/relationships/extended-properties" Target="/docProps/app.xml" Id="R8e442cc921784953" /><Relationship Type="http://schemas.openxmlformats.org/officeDocument/2006/relationships/officeDocument" Target="/ppt/presentation.xml" Id="Rd7ab22b4a66c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d85bafe3240dd"/>
  </p:sldMasterIdLst>
  <p:notesMasterIdLst>
    <p:notesMasterId xmlns:r="http://schemas.openxmlformats.org/officeDocument/2006/relationships" r:id="Re5210f7862f0483c"/>
  </p:notesMasterIdLst>
  <p:sldIdLst>
    <p:sldId xmlns:r="http://schemas.openxmlformats.org/officeDocument/2006/relationships" id="256" r:id="R9faa08087b1f451b"/>
    <p:sldId xmlns:r="http://schemas.openxmlformats.org/officeDocument/2006/relationships" id="257" r:id="R5545b8a05964460b"/>
    <p:sldId xmlns:r="http://schemas.openxmlformats.org/officeDocument/2006/relationships" id="258" r:id="Rd783c52201014ee5"/>
    <p:sldId xmlns:r="http://schemas.openxmlformats.org/officeDocument/2006/relationships" id="259" r:id="R627a0c68753f48af"/>
    <p:sldId xmlns:r="http://schemas.openxmlformats.org/officeDocument/2006/relationships" id="260" r:id="Rb4610e1b7d2a4f1d"/>
    <p:sldId xmlns:r="http://schemas.openxmlformats.org/officeDocument/2006/relationships" id="261" r:id="R9120b5601b5f41ae"/>
    <p:sldId xmlns:r="http://schemas.openxmlformats.org/officeDocument/2006/relationships" id="262" r:id="Rb8424a0e30ca40cd"/>
    <p:sldId xmlns:r="http://schemas.openxmlformats.org/officeDocument/2006/relationships" id="263" r:id="R7942c1bb7dd34719"/>
    <p:sldId xmlns:r="http://schemas.openxmlformats.org/officeDocument/2006/relationships" id="264" r:id="R638db11255b64e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a5a51389b448a" /><Relationship Type="http://schemas.openxmlformats.org/officeDocument/2006/relationships/slideMaster" Target="/ppt/slideMasters/slideMaster1.xml" Id="R6b4d85bafe3240dd" /><Relationship Type="http://schemas.openxmlformats.org/officeDocument/2006/relationships/notesMaster" Target="/ppt/notesMasters/notesMaster1.xml" Id="Re5210f7862f0483c" /><Relationship Type="http://schemas.openxmlformats.org/officeDocument/2006/relationships/presProps" Target="/ppt/presProps.xml" Id="Rd3eed393b2934bb2" /><Relationship Type="http://schemas.openxmlformats.org/officeDocument/2006/relationships/viewProps" Target="/ppt/viewProps.xml" Id="Ra606663961964ca5" /><Relationship Type="http://schemas.openxmlformats.org/officeDocument/2006/relationships/tableStyles" Target="/ppt/tableStyles.xml" Id="R613a4176914944e0" /><Relationship Type="http://schemas.openxmlformats.org/officeDocument/2006/relationships/slide" Target="/ppt/slides/slide1.xml" Id="R9faa08087b1f451b" /><Relationship Type="http://schemas.openxmlformats.org/officeDocument/2006/relationships/slide" Target="/ppt/slides/slide2.xml" Id="R5545b8a05964460b" /><Relationship Type="http://schemas.openxmlformats.org/officeDocument/2006/relationships/slide" Target="/ppt/slides/slide3.xml" Id="Rd783c52201014ee5" /><Relationship Type="http://schemas.openxmlformats.org/officeDocument/2006/relationships/slide" Target="/ppt/slides/slide4.xml" Id="R627a0c68753f48af" /><Relationship Type="http://schemas.openxmlformats.org/officeDocument/2006/relationships/slide" Target="/ppt/slides/slide5.xml" Id="Rb4610e1b7d2a4f1d" /><Relationship Type="http://schemas.openxmlformats.org/officeDocument/2006/relationships/slide" Target="/ppt/slides/slide6.xml" Id="R9120b5601b5f41ae" /><Relationship Type="http://schemas.openxmlformats.org/officeDocument/2006/relationships/slide" Target="/ppt/slides/slide7.xml" Id="Rb8424a0e30ca40cd" /><Relationship Type="http://schemas.openxmlformats.org/officeDocument/2006/relationships/slide" Target="/ppt/slides/slide8.xml" Id="R7942c1bb7dd34719" /><Relationship Type="http://schemas.openxmlformats.org/officeDocument/2006/relationships/slide" Target="/ppt/slides/slide9.xml" Id="R638db11255b6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213c3b9a94b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9940a6e254387" /><Relationship Type="http://schemas.openxmlformats.org/officeDocument/2006/relationships/notesMaster" Target="/ppt/notesMasters/notesMaster1.xml" Id="Rb491b4b0e02641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bb02433e54e0d" /><Relationship Type="http://schemas.openxmlformats.org/officeDocument/2006/relationships/notesMaster" Target="/ppt/notesMasters/notesMaster1.xml" Id="Rdd6b17b50cbb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cc262537184256" /><Relationship Type="http://schemas.openxmlformats.org/officeDocument/2006/relationships/notesMaster" Target="/ppt/notesMasters/notesMaster1.xml" Id="Rdb24aa646e2c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8693014fa45fb" /><Relationship Type="http://schemas.openxmlformats.org/officeDocument/2006/relationships/notesMaster" Target="/ppt/notesMasters/notesMaster1.xml" Id="R132e771fd0b3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3a16de8bac4868" /><Relationship Type="http://schemas.openxmlformats.org/officeDocument/2006/relationships/notesMaster" Target="/ppt/notesMasters/notesMaster1.xml" Id="Rcac479c4ce2d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7b12b2f1c4be6" /><Relationship Type="http://schemas.openxmlformats.org/officeDocument/2006/relationships/notesMaster" Target="/ppt/notesMasters/notesMaster1.xml" Id="R53bad18886ea42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b65867b03241a6" /><Relationship Type="http://schemas.openxmlformats.org/officeDocument/2006/relationships/notesMaster" Target="/ppt/notesMasters/notesMaster1.xml" Id="R624fafeb73da4c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a2a64bed9948c8" /><Relationship Type="http://schemas.openxmlformats.org/officeDocument/2006/relationships/notesMaster" Target="/ppt/notesMasters/notesMaster1.xml" Id="Rfd202de789f943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ffc760cf7a47bf" /><Relationship Type="http://schemas.openxmlformats.org/officeDocument/2006/relationships/notesMaster" Target="/ppt/notesMasters/notesMaster1.xml" Id="R4291c0866ddb46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10f4ba69d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ce31f8de64cec" /><Relationship Type="http://schemas.openxmlformats.org/officeDocument/2006/relationships/slideLayout" Target="/ppt/slideLayouts/slideLayout1.xml" Id="Ra2d59f63cafd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59f63cafd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3f89e0e244143" /><Relationship Type="http://schemas.openxmlformats.org/officeDocument/2006/relationships/notesSlide" Target="/ppt/notesSlides/notesSlide1.xml" Id="R0b34a0a2ce04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42e640e74f1c" /><Relationship Type="http://schemas.openxmlformats.org/officeDocument/2006/relationships/notesSlide" Target="/ppt/notesSlides/notesSlide2.xml" Id="Rad6560a5f27343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46d95d004b5f" /><Relationship Type="http://schemas.openxmlformats.org/officeDocument/2006/relationships/notesSlide" Target="/ppt/notesSlides/notesSlide3.xml" Id="R87b65fbc5e0245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af4cad41b4bd0" /><Relationship Type="http://schemas.openxmlformats.org/officeDocument/2006/relationships/notesSlide" Target="/ppt/notesSlides/notesSlide4.xml" Id="R5619ea55e30549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1a66135434c5c" /><Relationship Type="http://schemas.openxmlformats.org/officeDocument/2006/relationships/notesSlide" Target="/ppt/notesSlides/notesSlide5.xml" Id="Radc99e2cd37945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9fb2531434eae" /><Relationship Type="http://schemas.openxmlformats.org/officeDocument/2006/relationships/notesSlide" Target="/ppt/notesSlides/notesSlide6.xml" Id="R7a0838e6eaa44a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19697989d48ed" /><Relationship Type="http://schemas.openxmlformats.org/officeDocument/2006/relationships/notesSlide" Target="/ppt/notesSlides/notesSlide7.xml" Id="Reb1f0ff6d82f43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942b79704f27" /><Relationship Type="http://schemas.openxmlformats.org/officeDocument/2006/relationships/notesSlide" Target="/ppt/notesSlides/notesSlide8.xml" Id="R5769218376e34d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a72afc3a440d" /><Relationship Type="http://schemas.openxmlformats.org/officeDocument/2006/relationships/notesSlide" Target="/ppt/notesSlides/notesSlide9.xml" Id="R5e667eb3b934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EE3070-B975-44A1-9499-17DE864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8FE116-D3A3-4592-B490-FAF2F49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AI VULNERABILITY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87D07-CAE6-4FD1-9B3C-7FBB23F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54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BUGKILLER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28781-A9FE-4571-BD2F-325293D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0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250" b="0">
                <a:solidFill>
                  <a:srgbClr val="F4F0E8"/>
                </a:solidFill>
                <a:latin typeface="Avenir Next Condensed"/>
                <a:ea typeface="Avenir Next Condensed"/>
                <a:cs typeface="Avenir Next Condensed"/>
              </a:rPr>
              <a:t>Turns unknown legacy code into reproducible vulnerability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E28FF-B2C2-4E04-B35A-BF307A8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A bounded agent workflow for discovery, dynamic testing, independent retesting, and audit-ready reporting.</a:t>
            </a:r>
          </a:p>
        </p:txBody>
      </p:sp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DD16FC0-E8C2-41F3-99E9-E847547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32385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B21D6-5088-4AE7-8164-39DD9DE8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rPr>
              <a:t>VERIFIED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6B188-3FD6-4771-9C3A-11FAB291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865B-8FD4-43FC-82AF-36CAF66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confirmed bugs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E84A0-9546-42B3-9098-C293FD4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three distinct strategy families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754E0-B9E8-4FFE-A7F3-10FE199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5DD98-ADF4-4F5B-ADA2-1128D8F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executed test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EC27-00DB-43EE-9172-1035D3DF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12 controls + 12 candidate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25F28-9CF4-4003-9B5A-EE33B26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rPr>
              <a:t>3x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427A6-F697-4299-ACC6-B4C4ECF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independent retests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53647-0428-4D48-8079-053B3D6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per confirmed finding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F7240-85A1-4C81-AA35-7C47BA5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3423C-6CC1-4E5F-815D-8DFA0FA7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UNKNOWN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F8573-1F22-434A-BCA5-9392BEB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34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59777-20FD-4679-AA93-70C348B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91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EXECUTED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07A68-61D8-4E0A-8B2F-A6CD3DC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34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76E0B-CD12-473F-BC6E-20C08340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91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REPRODUCIBLE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77239-6434-4A35-B7D9-95754DB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Source: local Bugkiller run artifacts, 2026-06-14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71F2B-5F4A-4F5B-AFE7-57707060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7074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9948F6-6D8E-492D-8A01-67C6F81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DA3D82-C487-4128-A94B-E5F0F231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39228-175C-438E-A488-1A68AD1E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The hard part is preserving rigor when the environment is incomplete.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CF21D-2DB0-4037-ABC8-4243A2C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66176"/>
                </a:solidFill>
                <a:latin typeface="Avenir Next"/>
                <a:ea typeface="Avenir Next"/>
                <a:cs typeface="Avenir Next"/>
              </a:rPr>
              <a:t>Legacy systems arrive with missing dependencies, undocumented invariants, and noisy static signals. A useful agent must keep moving without lowering the confirmation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64D54-5643-425F-9EDB-2206BA58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rPr>
              <a:t>WHAT OFTEN BREAKS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26243-06B4-4B93-B0D8-A868F4C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FULL STARTUP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4012-A6A0-4736-9491-9D81BB0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missing npm packages / databases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85B0A-0FF7-4028-8964-00664C6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78FA5-1165-45AB-BC6B-F119117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NATIVE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B5F32-4C69-4864-B879-4D57F17E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tooling unavailable or stale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A07F6-FEF1-4024-AD1A-61F6FB1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EC02A-4110-47DD-8AAB-29D822EC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STATIC SCANS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945F2-4FB5-4385-A547-C8D4D14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dangerous patterns, weak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299A9-FB8B-416D-B081-FFB53D0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0F5FE-C8EA-436A-8111-54E30B0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87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SUSPICION</a:t>
            </a:r>
          </a:p>
        </p:txBody>
      </p:sp>
      <p:sp>
        <p:nvSpPr>
          <p:cNvPr id="16" name="funnel-1">
            <a:extLst xmlns:a="http://schemas.openxmlformats.org/drawingml/2006/main">
              <a:ext uri="{FF2B5EF4-FFF2-40B4-BE49-F238E27FC236}">
                <a16:creationId xmlns:a16="http://schemas.microsoft.com/office/drawing/2014/main" id="{DAAB3FE1-366B-40E5-BC20-F5829E69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C49B2-BCED-43D1-B0F2-984818D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observed risky behavior</a:t>
            </a:r>
          </a:p>
        </p:txBody>
      </p:sp>
      <p:sp>
        <p:nvSpPr>
          <p:cNvPr id="18" name="funnel-2">
            <a:extLst xmlns:a="http://schemas.openxmlformats.org/drawingml/2006/main">
              <a:ext uri="{FF2B5EF4-FFF2-40B4-BE49-F238E27FC236}">
                <a16:creationId xmlns:a16="http://schemas.microsoft.com/office/drawing/2014/main" id="{68B2E7F0-FD8B-4281-96F6-7E838DB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217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71706-11DF-4AAF-A618-D04A236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242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executable candidate</a:t>
            </a:r>
          </a:p>
        </p:txBody>
      </p:sp>
      <p:sp>
        <p:nvSpPr>
          <p:cNvPr id="20" name="funnel-3">
            <a:extLst xmlns:a="http://schemas.openxmlformats.org/drawingml/2006/main">
              <a:ext uri="{FF2B5EF4-FFF2-40B4-BE49-F238E27FC236}">
                <a16:creationId xmlns:a16="http://schemas.microsoft.com/office/drawing/2014/main" id="{C64C7F4F-C4AA-4B57-BA9D-97BAD77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6748A-04F9-4942-BBC1-21A21EF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confirmed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08558-7599-4B12-95B1-2FC0FBA5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Bugkiller narrows claims as evidence gets stronger.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E9CE5-BFE0-4C7F-A32D-6AFA2884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Source: INSTRUCTION.md; result/project_profile.md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D0AE3-31AB-40E4-BDA0-F1E7F8B4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4972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8B426B-3FDF-4FCE-B015-7CC4AD07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4A06AA-7E6E-4A61-9BB3-8ACA513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32CD-F350-47FA-9255-8D2130B3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A bounded agent loop keeps exploration broad and conclusions strict.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2FBE62C7-6904-4AEC-BA43-F15DEBCA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27116-CDA5-4CE5-A4C2-38F3EE93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9BC77-C95D-493F-B3C7-038C065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DD61-FFF3-4EC6-9197-6162E20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inventory stack, entry points, trust boundaries</a:t>
            </a:r>
          </a:p>
        </p:txBody>
      </p:sp>
      <p:sp>
        <p:nvSpPr>
          <p:cNvPr id="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3861C89-0D03-4CE4-A220-D692072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780CA33D-C5FA-45B1-840F-59A801F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A6289-10A4-4EC4-A584-50BD293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BCB12-CB39-48E3-B14E-B99E732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D0961-AAD3-4C0D-9612-DE84578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choose 3+ relevant strategy families</a:t>
            </a:r>
          </a:p>
        </p:txBody>
      </p:sp>
      <p:sp>
        <p:nvSpPr>
          <p:cNvPr id="13" name="connector-2">
            <a:extLst xmlns:a="http://schemas.openxmlformats.org/drawingml/2006/main">
              <a:ext uri="{FF2B5EF4-FFF2-40B4-BE49-F238E27FC236}">
                <a16:creationId xmlns:a16="http://schemas.microsoft.com/office/drawing/2014/main" id="{E159EB01-90C8-4905-B240-4D6153C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C975285F-5F2D-4AAA-998C-7A19107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8C9ED-A836-462A-9D5C-3DAE312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2BBDE-08B7-45C4-A4FE-FDA9DDC3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Generate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37A47-006E-4D87-8F0A-225921F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write run-specific candidate tests</a:t>
            </a:r>
          </a:p>
        </p:txBody>
      </p:sp>
      <p:sp>
        <p:nvSpPr>
          <p:cNvPr id="18" name="connector-3">
            <a:extLst xmlns:a="http://schemas.openxmlformats.org/drawingml/2006/main">
              <a:ext uri="{FF2B5EF4-FFF2-40B4-BE49-F238E27FC236}">
                <a16:creationId xmlns:a16="http://schemas.microsoft.com/office/drawing/2014/main" id="{47D6C8DA-5660-40FD-A964-BE3FFF5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4">
            <a:extLst xmlns:a="http://schemas.openxmlformats.org/drawingml/2006/main">
              <a:ext uri="{FF2B5EF4-FFF2-40B4-BE49-F238E27FC236}">
                <a16:creationId xmlns:a16="http://schemas.microsoft.com/office/drawing/2014/main" id="{8D700163-1862-485D-A839-DF19772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152AC-7FBF-4140-8B9D-9D22E8C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3EE4C-9715-4562-8B9E-C7F61AF4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Execute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70B44-C5E6-46E5-B8C3-858D00A3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use native path or isolated harness</a:t>
            </a:r>
          </a:p>
        </p:txBody>
      </p:sp>
      <p:sp>
        <p:nvSpPr>
          <p:cNvPr id="23" name="connector-4">
            <a:extLst xmlns:a="http://schemas.openxmlformats.org/drawingml/2006/main">
              <a:ext uri="{FF2B5EF4-FFF2-40B4-BE49-F238E27FC236}">
                <a16:creationId xmlns:a16="http://schemas.microsoft.com/office/drawing/2014/main" id="{E415FDD2-1859-4D9F-B352-4596D6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5">
            <a:extLst xmlns:a="http://schemas.openxmlformats.org/drawingml/2006/main">
              <a:ext uri="{FF2B5EF4-FFF2-40B4-BE49-F238E27FC236}">
                <a16:creationId xmlns:a16="http://schemas.microsoft.com/office/drawing/2014/main" id="{C06482A9-9EA6-4818-8188-A4BC2A6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C69E1-97F3-41C7-A648-AFEA3067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2B84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DEA02-A7F2-4AEB-ABDD-CD359AB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134ED-5A5A-404E-98B8-4611C5AE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repeat from comparable initial state</a:t>
            </a:r>
          </a:p>
        </p:txBody>
      </p:sp>
      <p:sp>
        <p:nvSpPr>
          <p:cNvPr id="28" name="connector-5">
            <a:extLst xmlns:a="http://schemas.openxmlformats.org/drawingml/2006/main">
              <a:ext uri="{FF2B5EF4-FFF2-40B4-BE49-F238E27FC236}">
                <a16:creationId xmlns:a16="http://schemas.microsoft.com/office/drawing/2014/main" id="{1E8D7234-C77D-4CC5-8548-A855C46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tage-6">
            <a:extLst xmlns:a="http://schemas.openxmlformats.org/drawingml/2006/main">
              <a:ext uri="{FF2B5EF4-FFF2-40B4-BE49-F238E27FC236}">
                <a16:creationId xmlns:a16="http://schemas.microsoft.com/office/drawing/2014/main" id="{A2ED2104-C16F-4DFE-8A7E-1EB116D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CA144-2319-4F0E-B726-88BBB0E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AB536-30E9-4FF4-8AB4-7F117DA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CF285-D6DA-4300-B754-EC57FF8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minimize trigger and preserve raw evidence</a:t>
            </a:r>
          </a:p>
        </p:txBody>
      </p:sp>
      <p:sp>
        <p:nvSpPr>
          <p:cNvPr id="33" name="connector-6">
            <a:extLst xmlns:a="http://schemas.openxmlformats.org/drawingml/2006/main">
              <a:ext uri="{FF2B5EF4-FFF2-40B4-BE49-F238E27FC236}">
                <a16:creationId xmlns:a16="http://schemas.microsoft.com/office/drawing/2014/main" id="{59316B35-149A-44CB-AFA5-F7ACCFA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tage-7">
            <a:extLst xmlns:a="http://schemas.openxmlformats.org/drawingml/2006/main">
              <a:ext uri="{FF2B5EF4-FFF2-40B4-BE49-F238E27FC236}">
                <a16:creationId xmlns:a16="http://schemas.microsoft.com/office/drawing/2014/main" id="{C49D7BBF-0F4B-43A4-B835-CA894AB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9AB9C-8657-41F9-87C5-8EE3AF4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241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071625-F7B6-4D79-84DC-6A270E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19425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425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1FED34-E9C2-4A0C-87AA-38B60E4B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3375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separate confirmed, rejected, blocked</a:t>
            </a:r>
          </a:p>
        </p:txBody>
      </p:sp>
      <p:sp>
        <p:nvSpPr>
          <p:cNvPr id="38" name="strict-boundary">
            <a:extLst xmlns:a="http://schemas.openxmlformats.org/drawingml/2006/main">
              <a:ext uri="{FF2B5EF4-FFF2-40B4-BE49-F238E27FC236}">
                <a16:creationId xmlns:a16="http://schemas.microsoft.com/office/drawing/2014/main" id="{79BB6BE0-FCB6-4430-B83F-2662B8AF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39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FBD0D-B356-4071-9762-57839FE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rPr>
              <a:t>STRICT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ECD69F-9908-4EF4-BF19-399FBCA0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847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Static observation can create a candidate. Only executed evidence + controls + 3 retests + minimal reproduction can create a confirmed bug.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A71002-6B3A-4EFB-A644-D8A68CC7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Each run is independent: no inherited findings, no preset trigger, no write-back to source.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FE5345-A358-4524-AF51-06C765D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Source: INSTRUCTION.md; work/skill/SKILL.md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6EAF82-3BE5-41E1-A901-1418F65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660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A0D4F6-0B6D-4279-B37E-19A7281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CE76C5-1A0B-4999-82B0-E4A3E96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D50EE-6A3A-482F-8ACC-1603BA3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The architecture separates source, method, evidence, and audit trails.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E362EFF7-3E70-436E-8697-F2DD27C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8B6B4-B7D8-4C19-AB1A-E735A92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PLATFORM AI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A0851-EE7A-46F9-8C1E-19DC067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812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reads instructions, inspects files, runs bounded local commands</a:t>
            </a:r>
          </a:p>
        </p:txBody>
      </p:sp>
      <p:sp>
        <p:nvSpPr>
          <p:cNvPr id="7" name="layer-link-1">
            <a:extLst xmlns:a="http://schemas.openxmlformats.org/drawingml/2006/main">
              <a:ext uri="{FF2B5EF4-FFF2-40B4-BE49-F238E27FC236}">
                <a16:creationId xmlns:a16="http://schemas.microsoft.com/office/drawing/2014/main" id="{A6C66E24-5DA0-4FF8-99D1-A5F2125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layer-2">
            <a:extLst xmlns:a="http://schemas.openxmlformats.org/drawingml/2006/main">
              <a:ext uri="{FF2B5EF4-FFF2-40B4-BE49-F238E27FC236}">
                <a16:creationId xmlns:a16="http://schemas.microsoft.com/office/drawing/2014/main" id="{3E3C2235-8DFD-4136-9D2B-D6319F81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7BECD-26CC-46D3-9CFE-6826D44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48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BUGKILLER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24045-851E-46FF-9E0B-C72E3B5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discovery | strategy portfolio | fallback | evidence standard | reporting</a:t>
            </a:r>
          </a:p>
        </p:txBody>
      </p:sp>
      <p:sp>
        <p:nvSpPr>
          <p:cNvPr id="11" name="layer-link-2">
            <a:extLst xmlns:a="http://schemas.openxmlformats.org/drawingml/2006/main">
              <a:ext uri="{FF2B5EF4-FFF2-40B4-BE49-F238E27FC236}">
                <a16:creationId xmlns:a16="http://schemas.microsoft.com/office/drawing/2014/main" id="{513E2ABA-211A-482A-B6DE-7E9A903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ayer-3">
            <a:extLst xmlns:a="http://schemas.openxmlformats.org/drawingml/2006/main">
              <a:ext uri="{FF2B5EF4-FFF2-40B4-BE49-F238E27FC236}">
                <a16:creationId xmlns:a16="http://schemas.microsoft.com/office/drawing/2014/main" id="{23D8BB5C-2E80-4202-9C4D-C59275C3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528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F5C06-79C5-466B-8418-AA0043F0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AUTHORIZED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F6D58-59FE-4F59-9FD9-D4AC4F4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338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code/ is read-only; unknown project is rediscovered on every run</a:t>
            </a:r>
          </a:p>
        </p:txBody>
      </p:sp>
      <p:sp>
        <p:nvSpPr>
          <p:cNvPr id="15" name="layer-link-3">
            <a:extLst xmlns:a="http://schemas.openxmlformats.org/drawingml/2006/main">
              <a:ext uri="{FF2B5EF4-FFF2-40B4-BE49-F238E27FC236}">
                <a16:creationId xmlns:a16="http://schemas.microsoft.com/office/drawing/2014/main" id="{D9CB2ACE-4023-46CD-8108-C9E0431A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yer-4">
            <a:extLst xmlns:a="http://schemas.openxmlformats.org/drawingml/2006/main">
              <a:ext uri="{FF2B5EF4-FFF2-40B4-BE49-F238E27FC236}">
                <a16:creationId xmlns:a16="http://schemas.microsoft.com/office/drawing/2014/main" id="{CB0FE8C6-AD3F-4319-8F71-F06C202A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887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A7E87-76D9-4BD5-81F9-EE5B94CB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2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VERIFIABLE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00CF8-878E-4E14-9198-ED73CEA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582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generated tests | reproductions | raw evidence | run manifest | trace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FE0BD-4AF7-406B-9865-F83844F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04F4F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C3192-C145-4BA3-A4CF-C5CA958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00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48810-D51F-41C5-877B-D488533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87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7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66176"/>
                </a:solidFill>
                <a:latin typeface="Avenir Next"/>
                <a:ea typeface="Avenir Next"/>
                <a:cs typeface="Avenir Next"/>
              </a:rPr>
              <a:t>No external model API dependency. Markdown instructions and standard-library helpers keep the method portable.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A5472-EFE8-457A-9E86-E930D0A8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Source: work/docs/ARCHITECTURE.md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0C63A-D9A4-4DCF-8343-D3125CE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3861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4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42A7BB-A03F-49A8-887B-BADD625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65B13B-4569-4711-B9DB-31B6467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EVIDENCE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1B6CA-9C21-4008-B51B-FE5756B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A bug is confirmed only after eight evidence gates are satisfied.</a:t>
            </a:r>
          </a:p>
        </p:txBody>
      </p:sp>
      <p:sp>
        <p:nvSpPr>
          <p:cNvPr id="4" name="gate-1">
            <a:extLst xmlns:a="http://schemas.openxmlformats.org/drawingml/2006/main">
              <a:ext uri="{FF2B5EF4-FFF2-40B4-BE49-F238E27FC236}">
                <a16:creationId xmlns:a16="http://schemas.microsoft.com/office/drawing/2014/main" id="{434F8F34-BC48-4A15-8A2A-845DFAE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973CB-3529-4FF6-ACB9-233EB9CC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96F4C-0496-428A-ABBB-465C46BD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clear trigger input</a:t>
            </a:r>
          </a:p>
        </p:txBody>
      </p:sp>
      <p:sp>
        <p:nvSpPr>
          <p:cNvPr id="7" name="gate-2">
            <a:extLst xmlns:a="http://schemas.openxmlformats.org/drawingml/2006/main">
              <a:ext uri="{FF2B5EF4-FFF2-40B4-BE49-F238E27FC236}">
                <a16:creationId xmlns:a16="http://schemas.microsoft.com/office/drawing/2014/main" id="{F3FE8F3C-6AE6-44F1-9DA1-47B7003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5EC10-D6BD-4919-99FF-DFAA1EF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03674-0CF6-433C-A73E-24C8C3CB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run-specific generated test</a:t>
            </a:r>
          </a:p>
        </p:txBody>
      </p:sp>
      <p:sp>
        <p:nvSpPr>
          <p:cNvPr id="10" name="gate-3">
            <a:extLst xmlns:a="http://schemas.openxmlformats.org/drawingml/2006/main">
              <a:ext uri="{FF2B5EF4-FFF2-40B4-BE49-F238E27FC236}">
                <a16:creationId xmlns:a16="http://schemas.microsoft.com/office/drawing/2014/main" id="{05C95B0A-4595-4341-BA4A-AD93EF3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7A4A2-4CBF-4564-809B-FFC50272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E1E3-31FB-4D52-A75B-9D91686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test actually executed</a:t>
            </a:r>
          </a:p>
        </p:txBody>
      </p:sp>
      <p:sp>
        <p:nvSpPr>
          <p:cNvPr id="13" name="gate-4">
            <a:extLst xmlns:a="http://schemas.openxmlformats.org/drawingml/2006/main">
              <a:ext uri="{FF2B5EF4-FFF2-40B4-BE49-F238E27FC236}">
                <a16:creationId xmlns:a16="http://schemas.microsoft.com/office/drawing/2014/main" id="{256A83A3-B304-42C8-BB35-F668487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8F7B-EFA7-4DEB-8032-88587DB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6C025-784C-4447-907C-6E4A11E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documented invariant violated</a:t>
            </a:r>
          </a:p>
        </p:txBody>
      </p:sp>
      <p:sp>
        <p:nvSpPr>
          <p:cNvPr id="16" name="gate-5">
            <a:extLst xmlns:a="http://schemas.openxmlformats.org/drawingml/2006/main">
              <a:ext uri="{FF2B5EF4-FFF2-40B4-BE49-F238E27FC236}">
                <a16:creationId xmlns:a16="http://schemas.microsoft.com/office/drawing/2014/main" id="{958B5431-2CB2-4FC2-8D41-4A4A498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E026D-4D7E-407E-B6D5-47ADAFD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E87CF-CC45-4C60-82BD-75BC594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false positives excluded</a:t>
            </a:r>
          </a:p>
        </p:txBody>
      </p:sp>
      <p:sp>
        <p:nvSpPr>
          <p:cNvPr id="19" name="gate-6">
            <a:extLst xmlns:a="http://schemas.openxmlformats.org/drawingml/2006/main">
              <a:ext uri="{FF2B5EF4-FFF2-40B4-BE49-F238E27FC236}">
                <a16:creationId xmlns:a16="http://schemas.microsoft.com/office/drawing/2014/main" id="{D8A11AE3-54E2-44BE-B130-4AB0B99B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DF843-BDB1-4A68-9292-A3221B6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E422D-90F4-4DCE-A7BB-8D4DD42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three consistent retests</a:t>
            </a:r>
          </a:p>
        </p:txBody>
      </p:sp>
      <p:sp>
        <p:nvSpPr>
          <p:cNvPr id="22" name="gate-7">
            <a:extLst xmlns:a="http://schemas.openxmlformats.org/drawingml/2006/main">
              <a:ext uri="{FF2B5EF4-FFF2-40B4-BE49-F238E27FC236}">
                <a16:creationId xmlns:a16="http://schemas.microsoft.com/office/drawing/2014/main" id="{25C16CFC-FC9E-4454-8BFE-3174E05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90137-FA96-4BD4-A201-5DDD5B62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9EBB2-9176-4569-9D33-D83B5C0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minimal reproduction</a:t>
            </a:r>
          </a:p>
        </p:txBody>
      </p:sp>
      <p:sp>
        <p:nvSpPr>
          <p:cNvPr id="25" name="gate-8">
            <a:extLst xmlns:a="http://schemas.openxmlformats.org/drawingml/2006/main">
              <a:ext uri="{FF2B5EF4-FFF2-40B4-BE49-F238E27FC236}">
                <a16:creationId xmlns:a16="http://schemas.microsoft.com/office/drawing/2014/main" id="{CCBF5057-1207-428F-96C4-93F940C6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2419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9DA5D-FC17-4756-9CC2-06D44A14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71CA8-62FA-4332-BA5B-06D4386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243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raw output preserved</a:t>
            </a:r>
          </a:p>
        </p:txBody>
      </p:sp>
      <p:sp>
        <p:nvSpPr>
          <p:cNvPr id="28" name="rejection-band">
            <a:extLst xmlns:a="http://schemas.openxmlformats.org/drawingml/2006/main">
              <a:ext uri="{FF2B5EF4-FFF2-40B4-BE49-F238E27FC236}">
                <a16:creationId xmlns:a16="http://schemas.microsoft.com/office/drawing/2014/main" id="{042D4C4F-AC2E-4707-A9F1-292144B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4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AEB1E-5E3C-4335-A31F-0861F3F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32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Anything less is labeled candidate, inconclusive, rejected, or environment-blocked.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82F2F-23C0-4A63-9E35-88977E12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Source: INSTRUCTION.md, Bug confirmation standard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0EE53-7D8B-4448-A011-2E3F2DC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811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712FE3-27B7-4452-A0B6-E8C97CA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A9F421-F96F-4535-90BA-CDFD0C7A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PRODUCT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9A900-1E0E-47D9-9D3B-2BD76A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0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One constrained NodeGoat run still confirmed three distinct security failures.</a:t>
            </a:r>
          </a:p>
        </p:txBody>
      </p:sp>
      <p:sp>
        <p:nvSpPr>
          <p:cNvPr id="4" name="finding-1">
            <a:extLst xmlns:a="http://schemas.openxmlformats.org/drawingml/2006/main">
              <a:ext uri="{FF2B5EF4-FFF2-40B4-BE49-F238E27FC236}">
                <a16:creationId xmlns:a16="http://schemas.microsoft.com/office/drawing/2014/main" id="{85C6FFA6-1899-4611-8FEF-4658317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5" name="finding-accent-1">
            <a:extLst xmlns:a="http://schemas.openxmlformats.org/drawingml/2006/main">
              <a:ext uri="{FF2B5EF4-FFF2-40B4-BE49-F238E27FC236}">
                <a16:creationId xmlns:a16="http://schemas.microsoft.com/office/drawing/2014/main" id="{6F495CA0-46BA-4840-ADDC-32B07F5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1135-45FE-48D9-986A-816CBAC7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BUG-001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240DE-131C-40FB-AB6D-F908431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Horizontal authorization bypass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C0B9E-AD8F-4127-95D9-EC901CC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FFD58-0721-4074-ADB9-92DCF62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session user 1 + URL user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D209-C90E-4265-8256-A0797ED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F8B1A-D0D1-4BE0-AA48-CEB1325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DAO queries user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E16D8-1AE8-4A3B-805E-666C03B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F4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04F4F"/>
                </a:solidFill>
                <a:latin typeface="Avenir Next"/>
                <a:ea typeface="Avenir Next"/>
                <a:cs typeface="Avenir Next"/>
              </a:rPr>
              <a:t>cross-user allocation access</a:t>
            </a:r>
          </a:p>
        </p:txBody>
      </p:sp>
      <p:sp>
        <p:nvSpPr>
          <p:cNvPr id="13" name="finding-2">
            <a:extLst xmlns:a="http://schemas.openxmlformats.org/drawingml/2006/main">
              <a:ext uri="{FF2B5EF4-FFF2-40B4-BE49-F238E27FC236}">
                <a16:creationId xmlns:a16="http://schemas.microsoft.com/office/drawing/2014/main" id="{34A29184-D7CC-4B15-AD63-B1E49E5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8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14" name="finding-accent-2">
            <a:extLst xmlns:a="http://schemas.openxmlformats.org/drawingml/2006/main">
              <a:ext uri="{FF2B5EF4-FFF2-40B4-BE49-F238E27FC236}">
                <a16:creationId xmlns:a16="http://schemas.microsoft.com/office/drawing/2014/main" id="{56A0CF73-0D4B-432E-BBEC-BB318B78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4C3A9-C126-4CAD-9397-F6DF367F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2B84B"/>
                </a:solidFill>
                <a:latin typeface="Menlo"/>
                <a:ea typeface="Menlo"/>
                <a:cs typeface="Menlo"/>
              </a:rPr>
              <a:t>BUG-002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E85C3-616D-4193-9162-0AE4A90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Open redirect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2997E-7A91-49A7-93A0-ABB8D05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TRIGGER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E468F-F79E-4073-8CA6-679A4F7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url=https://example.invalid/phishing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6CCE2-2457-492C-A354-4BE9ED0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OBSERVED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D803A-6649-4849-BABE-240E549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external URL passed to redirect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FF3C8-452F-45BD-AA7F-6F7B09B5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trusted-link phishing path</a:t>
            </a:r>
          </a:p>
        </p:txBody>
      </p:sp>
      <p:sp>
        <p:nvSpPr>
          <p:cNvPr id="22" name="finding-3">
            <a:extLst xmlns:a="http://schemas.openxmlformats.org/drawingml/2006/main">
              <a:ext uri="{FF2B5EF4-FFF2-40B4-BE49-F238E27FC236}">
                <a16:creationId xmlns:a16="http://schemas.microsoft.com/office/drawing/2014/main" id="{9084254F-A2AD-4F19-864E-73F730A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352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EC2"/>
            </a:solidFill>
            <a:prstDash val="solid"/>
          </a:ln>
        </p:spPr>
      </p:sp>
      <p:sp>
        <p:nvSpPr>
          <p:cNvPr id="23" name="finding-accent-3">
            <a:extLst xmlns:a="http://schemas.openxmlformats.org/drawingml/2006/main">
              <a:ext uri="{FF2B5EF4-FFF2-40B4-BE49-F238E27FC236}">
                <a16:creationId xmlns:a16="http://schemas.microsoft.com/office/drawing/2014/main" id="{C14D9AF3-DD39-4AEE-835F-E314B3E9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352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3B4EF-71C6-4C3D-AAD2-B7E4A24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BUG-003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61043-24EB-48A9-BE1A-78E0AAA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5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Plaintext sensitive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7233D-76AF-4FCE-B1F3-DE5BA08E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6C1BF-BC23-41B3-84AB-68B53AE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33"/>
                </a:solidFill>
                <a:latin typeface="Menlo"/>
                <a:ea typeface="Menlo"/>
                <a:cs typeface="Menlo"/>
              </a:rPr>
              <a:t>SSN 123-45-6789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9C551-60F9-4CD0-89D6-F6EA34E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OBSERVED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BD3F2-89AB-4664-BDD6-F7ED8D0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$set.ssn keeps input plaintext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DA6B7-08C8-4F79-A30B-1085B63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36D6C7"/>
                </a:solidFill>
                <a:latin typeface="Avenir Next"/>
                <a:ea typeface="Avenir Next"/>
                <a:cs typeface="Avenir Next"/>
              </a:rPr>
              <a:t>direct PII exposure on DB leak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E5D52-4334-421E-A798-7046500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Source: result/output.md; exact values from run-nodegoat-20260614-03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15657-9D8B-4C12-BF03-DDCCE2F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6711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63CD04-795D-4060-AE45-A6190CA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412007-1E7C-45B9-874D-28B3478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MEASURED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C6CAD-F26E-40B8-BADB-7715194E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Repeatable proof survived missing npm, dependencies, and MongoDB.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E394F-BCC9-4239-B9E1-22FA86B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4C62-1099-45A3-969E-74B7093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Node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6821D-83A4-4C62-9666-AEB3C3F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isolated executions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E066-245C-42AA-8FBA-B582E2C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2B84B"/>
                </a:solidFill>
                <a:latin typeface="Avenir Next Condensed"/>
                <a:ea typeface="Avenir Next Condensed"/>
                <a:cs typeface="Avenir Next Condensed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8D3FD-BDCE-4640-ABD5-97732BA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test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5BE3-24AE-4E5F-A7B6-CA39753B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controls + triggers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59A2E-EF7F-44B5-BC76-26BCDB4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18/18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9F819-8FFE-4B80-BBAE-1805667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framework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C2BCA-6EEA-4022-B869-1F29695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validation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42317-3AD1-4BEA-A07E-96BBA589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rPr>
              <a:t>111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780BE-D923-47B3-A348-4EFE2D8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 files unchanged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5897B-F791-4016-AEFC-F4AFA404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2,976,004 bytes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7048E-8181-46AF-9A8F-3C0E326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rPr>
              <a:t>FALLBACK PATH</a:t>
            </a:r>
          </a:p>
        </p:txBody>
      </p:sp>
      <p:sp>
        <p:nvSpPr>
          <p:cNvPr id="17" name="fallback-1">
            <a:extLst xmlns:a="http://schemas.openxmlformats.org/drawingml/2006/main">
              <a:ext uri="{FF2B5EF4-FFF2-40B4-BE49-F238E27FC236}">
                <a16:creationId xmlns:a16="http://schemas.microsoft.com/office/drawing/2014/main" id="{1C7D111D-F0AB-4713-9444-D482255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FEC28-DC30-4693-8D1D-3F3D0233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FULL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DA5B7-DB8E-4368-A1CF-957F418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527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blocked: missing express</a:t>
            </a:r>
          </a:p>
        </p:txBody>
      </p:sp>
      <p:sp>
        <p:nvSpPr>
          <p:cNvPr id="20" name="fallback-2">
            <a:extLst xmlns:a="http://schemas.openxmlformats.org/drawingml/2006/main">
              <a:ext uri="{FF2B5EF4-FFF2-40B4-BE49-F238E27FC236}">
                <a16:creationId xmlns:a16="http://schemas.microsoft.com/office/drawing/2014/main" id="{5174B517-B80C-463F-8055-40E2B311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F888D-F08E-4FE5-86AE-69D4B2E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NATIVE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10D2D-8C69-4E80-9428-2ED701B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385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blocked: missing grunt/npm</a:t>
            </a:r>
          </a:p>
        </p:txBody>
      </p:sp>
      <p:sp>
        <p:nvSpPr>
          <p:cNvPr id="23" name="fallback-3">
            <a:extLst xmlns:a="http://schemas.openxmlformats.org/drawingml/2006/main">
              <a:ext uri="{FF2B5EF4-FFF2-40B4-BE49-F238E27FC236}">
                <a16:creationId xmlns:a16="http://schemas.microsoft.com/office/drawing/2014/main" id="{63E2CBC0-813E-4EE9-BF46-38FC4400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481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CC887-CDE8-4714-9C4D-90107251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rPr>
              <a:t>PUBLIC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9AC13-4FD9-417D-BF23-5E5EE68F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243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executed handlers + DAO</a:t>
            </a:r>
          </a:p>
        </p:txBody>
      </p:sp>
      <p:sp>
        <p:nvSpPr>
          <p:cNvPr id="26" name="fallback-4">
            <a:extLst xmlns:a="http://schemas.openxmlformats.org/drawingml/2006/main">
              <a:ext uri="{FF2B5EF4-FFF2-40B4-BE49-F238E27FC236}">
                <a16:creationId xmlns:a16="http://schemas.microsoft.com/office/drawing/2014/main" id="{8045696F-D1E1-47B5-8BE1-9861E23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775E2-4414-46DD-BBAC-F394A3C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6D6C7"/>
                </a:solidFill>
                <a:latin typeface="Avenir Next"/>
                <a:ea typeface="Avenir Next"/>
                <a:cs typeface="Avenir Next"/>
              </a:rPr>
              <a:t>LOCAL HARNESS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C40BC-77C5-447F-B981-EBA6350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01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in-memory Express/Mongo fakes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07D71-9BFD-4FFB-97EE-7B72BAFA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1CB17-8FF0-4809-A940-1855AC20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EXECUTION OUTCOME</a:t>
            </a:r>
          </a:p>
        </p:txBody>
      </p:sp>
      <p:sp>
        <p:nvSpPr>
          <p:cNvPr id="31" name="outcome-base">
            <a:extLst xmlns:a="http://schemas.openxmlformats.org/drawingml/2006/main">
              <a:ext uri="{FF2B5EF4-FFF2-40B4-BE49-F238E27FC236}">
                <a16:creationId xmlns:a16="http://schemas.microsoft.com/office/drawing/2014/main" id="{3817CF5C-00F4-415F-8E43-C250654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outcome-controls">
            <a:extLst xmlns:a="http://schemas.openxmlformats.org/drawingml/2006/main">
              <a:ext uri="{FF2B5EF4-FFF2-40B4-BE49-F238E27FC236}">
                <a16:creationId xmlns:a16="http://schemas.microsoft.com/office/drawing/2014/main" id="{B0E25AEF-5EB9-444F-ABD8-343966A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outcome-candidates">
            <a:extLst xmlns:a="http://schemas.openxmlformats.org/drawingml/2006/main">
              <a:ext uri="{FF2B5EF4-FFF2-40B4-BE49-F238E27FC236}">
                <a16:creationId xmlns:a16="http://schemas.microsoft.com/office/drawing/2014/main" id="{58AB9D0B-F7DA-4160-B153-98357057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2E914-3CA3-4E07-A475-2021DE05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B1020"/>
                </a:solidFill>
                <a:latin typeface="Avenir Next"/>
                <a:ea typeface="Avenir Next"/>
                <a:cs typeface="Avenir Next"/>
              </a:rPr>
              <a:t>12 controls passed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10708-6E49-473A-9AE3-2750B8A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 candidate assertions exposed actual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DADCA-202A-45DD-9456-0F444EB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Each confirmed bug was independently retested three times from comparable state.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DE8E3-C03F-4A85-90F6-F748B842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Source: result/output.md; result/project_profile.md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99ECA-8EE4-4650-A695-81D58F8F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477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F58F1A-D441-4A2B-B895-8CDC121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FE8D10-FE8E-49BE-A3C2-368A193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SAFETY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02A5B-A432-4FCA-B13F-F423B51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172033"/>
                </a:solidFill>
                <a:latin typeface="Avenir Next Condensed"/>
                <a:ea typeface="Avenir Next Condensed"/>
                <a:cs typeface="Avenir Next Condensed"/>
              </a:rPr>
              <a:t>Safety constraints are part of the product architecture.</a:t>
            </a:r>
          </a:p>
        </p:txBody>
      </p:sp>
      <p:sp>
        <p:nvSpPr>
          <p:cNvPr id="4" name="allowed-boundary">
            <a:extLst xmlns:a="http://schemas.openxmlformats.org/drawingml/2006/main">
              <a:ext uri="{FF2B5EF4-FFF2-40B4-BE49-F238E27FC236}">
                <a16:creationId xmlns:a16="http://schemas.microsoft.com/office/drawing/2014/main" id="{18BAFEF1-DB5E-45C0-AE7E-CD63FA6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3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orbidden-boundary">
            <a:extLst xmlns:a="http://schemas.openxmlformats.org/drawingml/2006/main">
              <a:ext uri="{FF2B5EF4-FFF2-40B4-BE49-F238E27FC236}">
                <a16:creationId xmlns:a16="http://schemas.microsoft.com/office/drawing/2014/main" id="{6EC65A12-1FDC-4177-8CB5-319113A0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5238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0CE50-C7E0-4304-8F60-B2769FD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350" b="1">
                <a:solidFill>
                  <a:srgbClr val="36D6C7"/>
                </a:solidFill>
                <a:latin typeface="Avenir Next Condensed"/>
                <a:ea typeface="Avenir Next Condensed"/>
                <a:cs typeface="Avenir Next Condensed"/>
              </a:rPr>
              <a:t>ALLOWED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E4719-18F5-4AC6-A33E-32CE86E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Inspect authorized code/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 bounded local tests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isolated fake dependencies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 only to result/ and logs/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Preserve raw outputs and exit codes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FC249-6BCE-4B95-B2F9-6520023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350" b="1">
                <a:solidFill>
                  <a:srgbClr val="F04F4F"/>
                </a:solidFill>
                <a:latin typeface="Avenir Next Condensed"/>
                <a:ea typeface="Avenir Next Condensed"/>
                <a:cs typeface="Avenir Next Condensed"/>
              </a:rPr>
              <a:t>FORBIDDEN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B1ACD-4BC2-49EA-8AE1-2C30F49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Modify source code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Scan public or unrelated hosts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Destroy data or establish persistence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Execute untrusted remote scripts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Call static suspicion a confirmed bug</a:t>
            </a:r>
          </a:p>
        </p:txBody>
      </p:sp>
      <p:sp>
        <p:nvSpPr>
          <p:cNvPr id="10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414E7FD3-6610-4A70-9BBB-55BFFA7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76900"/>
            <a:ext cx="480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116B-42CB-4618-A54A-A91E2DC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91200"/>
            <a:ext cx="453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72033"/>
                </a:solidFill>
                <a:latin typeface="Menlo"/>
                <a:ea typeface="Menlo"/>
                <a:cs typeface="Menlo"/>
              </a:rPr>
              <a:t>SOURCE INTEGRITY VERIFIED: 111 FILES UNCHANGED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52472-FAB7-459A-A8A4-7C18AC8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086"/>
                </a:solidFill>
                <a:latin typeface="Avenir Next"/>
                <a:ea typeface="Avenir Next"/>
                <a:cs typeface="Avenir Next"/>
              </a:rPr>
              <a:t>Source: INSTRUCTION.md; result/output.md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A29F-0997-4F91-BE7E-2FA412A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6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5708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5670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88ABFD-F448-4E66-9819-E35600AC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63CD6C-7AB8-46F6-B773-8C6FBE0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7461-3DDD-4E28-8DBD-C005CA28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4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Broaden coverage without relaxing the evidence bar.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5210F4E1-B338-4189-A170-1BEE9373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milestone-1">
            <a:extLst xmlns:a="http://schemas.openxmlformats.org/drawingml/2006/main">
              <a:ext uri="{FF2B5EF4-FFF2-40B4-BE49-F238E27FC236}">
                <a16:creationId xmlns:a16="http://schemas.microsoft.com/office/drawing/2014/main" id="{C10E537F-283F-443A-B5FF-6959A15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4F421-A7A8-4BE8-A0F5-785297FF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6C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36D6C7"/>
                </a:solidFill>
                <a:latin typeface="Menlo"/>
                <a:ea typeface="Menlo"/>
                <a:cs typeface="Menlo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1AA78-633D-495C-975C-751AA08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Portable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0ECA-7787-40E7-B803-EBAA75F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unknown-code discovery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3+ strategies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fallback execution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audit-ready evidence</a:t>
            </a:r>
          </a:p>
        </p:txBody>
      </p:sp>
      <p:sp>
        <p:nvSpPr>
          <p:cNvPr id="9" name="milestone-2">
            <a:extLst xmlns:a="http://schemas.openxmlformats.org/drawingml/2006/main">
              <a:ext uri="{FF2B5EF4-FFF2-40B4-BE49-F238E27FC236}">
                <a16:creationId xmlns:a16="http://schemas.microsoft.com/office/drawing/2014/main" id="{6488C2CE-DB8B-45BC-A81B-DE3B391C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56B06-75B4-4C50-9EFA-93AE479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2B84B"/>
                </a:solidFill>
                <a:latin typeface="Menlo"/>
                <a:ea typeface="Menlo"/>
                <a:cs typeface="Menlo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C5830-42F1-4711-A893-E5EC95D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Deeper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CE78-17BF-40CE-A5BE-9B519B1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dependency bootstrapping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browser + database paths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state-machine and concurrency tests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coverage scoring</a:t>
            </a:r>
          </a:p>
        </p:txBody>
      </p:sp>
      <p:sp>
        <p:nvSpPr>
          <p:cNvPr id="13" name="milestone-3">
            <a:extLst xmlns:a="http://schemas.openxmlformats.org/drawingml/2006/main">
              <a:ext uri="{FF2B5EF4-FFF2-40B4-BE49-F238E27FC236}">
                <a16:creationId xmlns:a16="http://schemas.microsoft.com/office/drawing/2014/main" id="{B66E4290-FE4C-45A3-BAFA-0551B20C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6EEE4-4D6D-4B98-A418-24CC52B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4F4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04F4F"/>
                </a:solidFill>
                <a:latin typeface="Menlo"/>
                <a:ea typeface="Menlo"/>
                <a:cs typeface="Menlo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1BAA5-DDCC-4F5D-ADC2-E6ED64E1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9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rPr>
              <a:t>Team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CFA09-54FD-4E6E-A2A6-3D8002F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parallel strategy workers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cross-run analytics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CI policy gates</a:t>
            </a:r>
          </a:p>
          <a:p xmlns:a="http://schemas.openxmlformats.org/drawingml/2006/main">
            <a:pPr algn="l">
              <a:def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remediation verification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2C8C8E8C-9C02-46D6-A480-6612E64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C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90F07-0ABF-4612-AB94-6DBE6B8E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1040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invariant stays fixed: no confirmed bug without executable, repeatable, reviewable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66ADA-EB00-4DF7-8D3C-4C475AA2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C98AB"/>
                </a:solidFill>
                <a:latin typeface="Avenir Next"/>
                <a:ea typeface="Avenir Next"/>
                <a:cs typeface="Avenir Next"/>
              </a:rPr>
              <a:t>Roadmap inferred from current architecture and documented open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B446B-DDFF-4E5B-96B0-9C75078C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98AB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C98A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6905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2026-06-14T08:20:14.9370000Z</dcterms:created>
  <dcterms:modified xsi:type="dcterms:W3CDTF">2026-06-14T08:20:14.9370000Z</dcterms:modified>
</coreProperties>
</file>